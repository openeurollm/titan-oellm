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66D9EF"/>
                </a:solidFill>
              </a:defRPr>
            </a:pPr>
            <a:r>
              <a:t>Titan-OELLM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6E22E"/>
                </a:solidFill>
              </a:defRPr>
            </a:pPr>
            <a:r>
              <a:t>A TorchTitan Wrapper for Scalable LLM Training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400" b="0">
                <a:solidFill>
                  <a:srgbClr val="A6E22E"/>
                </a:solidFill>
              </a:defRPr>
            </a:pPr>
            <a:r>
              <a:t>on HPC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8F8F2"/>
                </a:solidFill>
              </a:defRPr>
            </a:pPr>
            <a:r>
              <a:rPr sz="1800" b="1">
                <a:solidFill>
                  <a:srgbClr val="FD971F"/>
                </a:solidFill>
              </a:rPr>
              <a:t>1. </a:t>
            </a:r>
            <a:r>
              <a:rPr sz="1800" b="1">
                <a:solidFill>
                  <a:srgbClr val="FFFFFF"/>
                </a:solidFill>
              </a:rPr>
              <a:t>Motivation</a:t>
            </a:r>
            <a:r>
              <a:rPr sz="1500">
                <a:solidFill>
                  <a:srgbClr val="75715E"/>
                </a:solidFill>
              </a:rPr>
              <a:t>  --  Why a wrapper around TorchTitan?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2. </a:t>
            </a:r>
            <a:r>
              <a:rPr sz="1800" b="1">
                <a:solidFill>
                  <a:srgbClr val="FFFFFF"/>
                </a:solidFill>
              </a:rPr>
              <a:t>Architecture Overview</a:t>
            </a:r>
            <a:r>
              <a:rPr sz="1500">
                <a:solidFill>
                  <a:srgbClr val="75715E"/>
                </a:solidFill>
              </a:rPr>
              <a:t>  --  Repository structure &amp; design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3. </a:t>
            </a:r>
            <a:r>
              <a:rPr sz="1800" b="1">
                <a:solidFill>
                  <a:srgbClr val="FFFFFF"/>
                </a:solidFill>
              </a:rPr>
              <a:t>Configuration System</a:t>
            </a:r>
            <a:r>
              <a:rPr sz="1500">
                <a:solidFill>
                  <a:srgbClr val="75715E"/>
                </a:solidFill>
              </a:rPr>
              <a:t>  --  TOML configs, cluster paths, environment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4. </a:t>
            </a:r>
            <a:r>
              <a:rPr sz="1800" b="1">
                <a:solidFill>
                  <a:srgbClr val="FFFFFF"/>
                </a:solidFill>
              </a:rPr>
              <a:t>Starting an Experiment</a:t>
            </a:r>
            <a:r>
              <a:rPr sz="1500">
                <a:solidFill>
                  <a:srgbClr val="75715E"/>
                </a:solidFill>
              </a:rPr>
              <a:t>  --  Local &amp; SLURM workflows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5. </a:t>
            </a:r>
            <a:r>
              <a:rPr sz="1800" b="1">
                <a:solidFill>
                  <a:srgbClr val="FFFFFF"/>
                </a:solidFill>
              </a:rPr>
              <a:t>Key Components</a:t>
            </a:r>
            <a:r>
              <a:rPr sz="1500">
                <a:solidFill>
                  <a:srgbClr val="75715E"/>
                </a:solidFill>
              </a:rPr>
              <a:t>  --  Data loaders, validators, schedulers, logging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6. </a:t>
            </a:r>
            <a:r>
              <a:rPr sz="1800" b="1">
                <a:solidFill>
                  <a:srgbClr val="FFFFFF"/>
                </a:solidFill>
              </a:rPr>
              <a:t>Adding New Models</a:t>
            </a:r>
            <a:r>
              <a:rPr sz="1500">
                <a:solidFill>
                  <a:srgbClr val="75715E"/>
                </a:solidFill>
              </a:rPr>
              <a:t>  --  Step-by-step guide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7. </a:t>
            </a:r>
            <a:r>
              <a:rPr sz="1800" b="1">
                <a:solidFill>
                  <a:srgbClr val="FFFFFF"/>
                </a:solidFill>
              </a:rPr>
              <a:t>Adding New Features</a:t>
            </a:r>
            <a:r>
              <a:rPr sz="1500">
                <a:solidFill>
                  <a:srgbClr val="75715E"/>
                </a:solidFill>
              </a:rPr>
              <a:t>  --  Datasets, tokenizers, schedulers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D971F"/>
                </a:solidFill>
              </a:rPr>
              <a:t>8. </a:t>
            </a:r>
            <a:r>
              <a:rPr sz="1800" b="1">
                <a:solidFill>
                  <a:srgbClr val="FFFFFF"/>
                </a:solidFill>
              </a:rPr>
              <a:t>Live Demo /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What is TorchTitan?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rPr sz="1800" b="1">
                <a:solidFill>
                  <a:srgbClr val="FD971F"/>
                </a:solidFill>
              </a:rPr>
              <a:t>TorchTitan (v0.2.1)</a:t>
            </a:r>
            <a:r>
              <a:rPr sz="1800">
                <a:solidFill>
                  <a:srgbClr val="F8F8F2"/>
                </a:solidFill>
              </a:rPr>
              <a:t> is PyTorch's native platform for large-scale LLM training.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8F8F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700" b="1">
                <a:solidFill>
                  <a:srgbClr val="F8F8F2"/>
                </a:solidFill>
              </a:defRPr>
            </a:pPr>
            <a:r>
              <a:t>It provides: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Multi-dimensional parallelism (FSDP2, Tensor Parallel, Pipeline Parallel, Context Parallel)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Distributed checkpointing (DCP)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Configuration management via TOML + tyro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torch.compile integration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Built-in models (Llama3, etc.)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8F8F2"/>
                </a:solidFill>
              </a:defRPr>
            </a:pPr>
          </a:p>
          <a:p>
            <a:pPr>
              <a:defRPr sz="1600" i="1">
                <a:solidFill>
                  <a:srgbClr val="AE81FF"/>
                </a:solidFill>
              </a:defRPr>
            </a:pPr>
            <a:r>
              <a:t>TorchTitan handles the distributed training engine.</a:t>
            </a:r>
            <a:br/>
            <a:r>
              <a:t>We need everything else around it for our HPC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Why a Wrapper?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Our Solution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Multiple HPC clusters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cluster_config.py -- auto-detection &amp; path resolution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Per-user dataset/tokenizer paths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user/$USER/cluster_paths.toml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Custom model architectures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Model registration system (TrainSpec)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Validation during training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Multi-metric validator (Perplexity, WikiText, LAMBADA)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Training diagnostics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Parameter &amp; gradient logging to TensorBoard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Flexible LR schedules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Universal 3-phase scheduler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Efficient data loading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MMap, Chunked, Deterministic Packed dataloaders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Containerized execution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Apptainer/Singularity integration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287782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titan-oellm/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torchtitan/            &lt;-- Git submodule (upstream, untouched)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titan_oellm/           &lt;-- Our extensions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cluster_config.py         Cluster auto-detection &amp; paths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configs/                  Extended JobConfig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components/               Validator, LR scheduler, param logger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datasets/                 Dataloaders, tokenizer, collator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models/                   Custom model implementations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titan_train.py         &lt;-- Entry point (config monkey-patch)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submit_job.sh          &lt;-- Unified job submission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slurm/                 &lt;-- Per-cluster SLURM scripts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user/                  &lt;-- Per-user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rPr sz="1600">
                <a:solidFill>
                  <a:srgbClr val="F8F8F2"/>
                </a:solidFill>
              </a:rPr>
              <a:t>Key principle: </a:t>
            </a:r>
            <a:r>
              <a:rPr sz="1600" b="1">
                <a:solidFill>
                  <a:srgbClr val="A6E22E"/>
                </a:solidFill>
              </a:rPr>
              <a:t>TorchTitan is used as-is (submodule). All customization lives in titan_oellm/.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8F2"/>
                </a:solidFill>
              </a:defRPr>
            </a:pPr>
            <a:r>
              <a:t>Layered architecture: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8F8F2"/>
                </a:solidFill>
              </a:defRPr>
            </a:pP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66D9EF"/>
                </a:solidFill>
              </a:rPr>
              <a:t>Layer 1: TorchTitan Core  </a:t>
            </a:r>
            <a:r>
              <a:rPr sz="1500">
                <a:solidFill>
                  <a:srgbClr val="75715E"/>
                </a:solidFill>
              </a:rPr>
              <a:t>(used as-is, git submodule)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Parallelism (FSDP2, TP, PP, CP)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Distributed checkpointing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Training loop &amp; compilation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8F8F2"/>
                </a:solidFill>
              </a:defRPr>
            </a:pP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A6E22E"/>
                </a:solidFill>
              </a:rPr>
              <a:t>Layer 2: titan_oellm  </a:t>
            </a:r>
            <a:r>
              <a:rPr sz="1500">
                <a:solidFill>
                  <a:srgbClr val="75715E"/>
                </a:solidFill>
              </a:rPr>
              <a:t>(our extensions)</a:t>
            </a:r>
          </a:p>
          <a:p>
            <a:pPr lvl="1">
              <a:spcBef>
                <a:spcPts val="200"/>
              </a:spcBef>
            </a:pPr>
            <a:r>
              <a:rPr sz="1400" b="1">
                <a:solidFill>
                  <a:srgbClr val="FD971F"/>
                </a:solidFill>
              </a:rPr>
              <a:t>cluster_config: </a:t>
            </a:r>
            <a:r>
              <a:rPr sz="1400">
                <a:solidFill>
                  <a:srgbClr val="F8F8F2"/>
                </a:solidFill>
              </a:rPr>
              <a:t>path management</a:t>
            </a:r>
          </a:p>
          <a:p>
            <a:pPr lvl="1">
              <a:spcBef>
                <a:spcPts val="200"/>
              </a:spcBef>
            </a:pPr>
            <a:r>
              <a:rPr sz="1400" b="1">
                <a:solidFill>
                  <a:srgbClr val="FD971F"/>
                </a:solidFill>
              </a:rPr>
              <a:t>models: </a:t>
            </a:r>
            <a:r>
              <a:rPr sz="1400">
                <a:solidFill>
                  <a:srgbClr val="F8F8F2"/>
                </a:solidFill>
              </a:rPr>
              <a:t>Qwen3-Custom, MoE</a:t>
            </a:r>
          </a:p>
          <a:p>
            <a:pPr lvl="1">
              <a:spcBef>
                <a:spcPts val="200"/>
              </a:spcBef>
            </a:pPr>
            <a:r>
              <a:rPr sz="1400" b="1">
                <a:solidFill>
                  <a:srgbClr val="FD971F"/>
                </a:solidFill>
              </a:rPr>
              <a:t>datasets: </a:t>
            </a:r>
            <a:r>
              <a:rPr sz="1400">
                <a:solidFill>
                  <a:srgbClr val="F8F8F2"/>
                </a:solidFill>
              </a:rPr>
              <a:t>MMap, Chunked, DeterministicPacked</a:t>
            </a:r>
          </a:p>
          <a:p>
            <a:pPr lvl="1">
              <a:spcBef>
                <a:spcPts val="200"/>
              </a:spcBef>
            </a:pPr>
            <a:r>
              <a:rPr sz="1400" b="1">
                <a:solidFill>
                  <a:srgbClr val="FD971F"/>
                </a:solidFill>
              </a:rPr>
              <a:t>components: </a:t>
            </a:r>
            <a:r>
              <a:rPr sz="1400">
                <a:solidFill>
                  <a:srgbClr val="F8F8F2"/>
                </a:solidFill>
              </a:rPr>
              <a:t>validator, LR scheduler, parameter logger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8F8F2"/>
                </a:solidFill>
              </a:defRPr>
            </a:pPr>
          </a:p>
          <a:p>
            <a:pPr>
              <a:defRPr sz="1600" b="1">
                <a:solidFill>
                  <a:srgbClr val="A6E22E"/>
                </a:solidFill>
              </a:defRPr>
            </a:pPr>
            <a:r>
              <a:t>All components are pluggable via the TrainSpec registration pattern.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Configuration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8F2"/>
                </a:solidFill>
              </a:defRPr>
            </a:pPr>
            <a:r>
              <a:t>Three layers of configuration: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8F8F2"/>
                </a:solidFill>
              </a:defRPr>
            </a:pP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D971F"/>
                </a:solidFill>
              </a:rPr>
              <a:t>1. </a:t>
            </a:r>
            <a:r>
              <a:rPr sz="1700" b="1">
                <a:solidFill>
                  <a:srgbClr val="FFFFFF"/>
                </a:solidFill>
              </a:rPr>
              <a:t>Model training config (TOML)</a:t>
            </a:r>
          </a:p>
          <a:p>
            <a:pPr>
              <a:spcBef>
                <a:spcPts val="100"/>
              </a:spcBef>
              <a:defRPr sz="1400">
                <a:solidFill>
                  <a:srgbClr val="75715E"/>
                </a:solidFill>
              </a:defRPr>
            </a:pPr>
            <a:r>
              <a:t>     model architecture, optimizer, parallelism</a:t>
            </a:r>
          </a:p>
          <a:p>
            <a:pPr>
              <a:spcBef>
                <a:spcPts val="100"/>
              </a:spcBef>
              <a:defRPr sz="1200">
                <a:solidFill>
                  <a:srgbClr val="AE81FF"/>
                </a:solidFill>
                <a:latin typeface="Courier New"/>
              </a:defRPr>
            </a:pPr>
            <a:r>
              <a:t>     models/qwen3_custom/train_configs/qwen3_custom.toml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8F8F2"/>
                </a:solidFill>
              </a:defRPr>
            </a:pP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D971F"/>
                </a:solidFill>
              </a:rPr>
              <a:t>2. </a:t>
            </a:r>
            <a:r>
              <a:rPr sz="1700" b="1">
                <a:solidFill>
                  <a:srgbClr val="FFFFFF"/>
                </a:solidFill>
              </a:rPr>
              <a:t>User cluster paths (TOML)</a:t>
            </a:r>
          </a:p>
          <a:p>
            <a:pPr>
              <a:spcBef>
                <a:spcPts val="100"/>
              </a:spcBef>
              <a:defRPr sz="1400">
                <a:solidFill>
                  <a:srgbClr val="75715E"/>
                </a:solidFill>
              </a:defRPr>
            </a:pPr>
            <a:r>
              <a:t>     dataset/tokenizer paths per cluster</a:t>
            </a:r>
          </a:p>
          <a:p>
            <a:pPr>
              <a:spcBef>
                <a:spcPts val="100"/>
              </a:spcBef>
              <a:defRPr sz="1200">
                <a:solidFill>
                  <a:srgbClr val="AE81FF"/>
                </a:solidFill>
                <a:latin typeface="Courier New"/>
              </a:defRPr>
            </a:pPr>
            <a:r>
              <a:t>     user/$USER/cluster_paths.toml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8F8F2"/>
                </a:solidFill>
              </a:defRPr>
            </a:pP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FD971F"/>
                </a:solidFill>
              </a:rPr>
              <a:t>3. </a:t>
            </a:r>
            <a:r>
              <a:rPr sz="1700" b="1">
                <a:solidFill>
                  <a:srgbClr val="FFFFFF"/>
                </a:solidFill>
              </a:rPr>
              <a:t>Environment variables</a:t>
            </a:r>
          </a:p>
          <a:p>
            <a:pPr>
              <a:spcBef>
                <a:spcPts val="100"/>
              </a:spcBef>
              <a:defRPr sz="1400">
                <a:solidFill>
                  <a:srgbClr val="75715E"/>
                </a:solidFill>
              </a:defRPr>
            </a:pPr>
            <a:r>
              <a:t>     runtime overrides</a:t>
            </a:r>
          </a:p>
          <a:p>
            <a:pPr>
              <a:spcBef>
                <a:spcPts val="100"/>
              </a:spcBef>
              <a:defRPr sz="1200">
                <a:solidFill>
                  <a:srgbClr val="AE81FF"/>
                </a:solidFill>
                <a:latin typeface="Courier New"/>
              </a:defRPr>
            </a:pPr>
            <a:r>
              <a:t>     TITAN_USER, CLUSTER, DATASET, TOKENIZER, CONFIG, NPROC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8F8F2"/>
                </a:solidFill>
              </a:defRPr>
            </a:pPr>
          </a:p>
          <a:p>
            <a:pPr>
              <a:defRPr sz="1600" i="1">
                <a:solidFill>
                  <a:srgbClr val="AE81FF"/>
                </a:solidFill>
              </a:defRPr>
            </a:pPr>
            <a:r>
              <a:t>Configs are cluster-independent. Paths are injected at runtime by cluster_config.py.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Training Config (TOML)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502920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[model]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name = "qwen3_custom"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flavor = "1.7B"              # Model size variant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[training]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steps = 100000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seq_len = 2048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local_batch_size = 4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mixed_precision_param = "bfloat16"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[optimizer]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name = "AdamW"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lr = 3e-4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[lr_scheduler]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scheduler_type = "universal"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warm_steps = 1000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warm_type = "linear"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main_decay_type = "cosine"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cooldown_steps = 500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[parallelism]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dp_shard = -1                # Auto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tp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User Cluster Paths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332359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# user/$USER/cluster_paths.toml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["cluster.juwels"]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output_dir = "/p/scratch/project/user/titan_output"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cache_base = "/p/scratch/project/user/cache"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["tokenizer.neox.juwels"]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path = "/p/scratch/project/tokenizers/neox"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["dataset.slimpajama_627b.neox.juwels"]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train_prefix = "/p/scratch/project/data/slimpajama/train"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validation_prefix = "/p/scratch/project/data/slimpajama/val"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dataloader = "ChunkedMMapDataset"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min_doc_len = 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rPr sz="1600">
                <a:solidFill>
                  <a:srgbClr val="F8F8F2"/>
                </a:solidFill>
              </a:rPr>
              <a:t>Lookup pattern: </a:t>
            </a:r>
            <a:r>
              <a:rPr sz="1600" b="1">
                <a:solidFill>
                  <a:srgbClr val="A6E22E"/>
                </a:solidFill>
                <a:latin typeface="Courier New"/>
              </a:rPr>
              <a:t>dataset.{name}.{tokenizer}.{cluster}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Path Resolution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397510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Environment Variables         cluster_paths.toml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+------------------+         +------------------+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| DATASET=slimpaj  |         | dataset paths  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| TOKENIZER=neox   |---+     | tokenizer paths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| CLUSTER=juwels   |   |     | cluster settings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+------------------+   |     +--------+---------+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     |            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+----v--------------v----+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  cluster_config.py  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  get_cli_args()     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+------------+-----------+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           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+------------v-----------+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--job.config_file=...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--data.data_prefix=...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--data.chunks_dir=... 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--validation.data_pref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| --benchmarks.wikitext2 |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+------------------------+</a:t>
            </a:r>
          </a:p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8F8F2"/>
                </a:solidFill>
                <a:latin typeface="Courier New"/>
              </a:defRPr>
            </a:pPr>
            <a:r>
              <a:t>                     CLI args for torchrun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Starting an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E22E"/>
                </a:solidFill>
              </a:defRPr>
            </a:pPr>
            <a:r>
              <a:t>Option 1: Local (development/testing)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8229600" cy="109474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TITAN_USER=joerg DATASET=test_dataset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CONFIG=user/joerg/configs/debug.toml NPROC=1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bash submit_job.sh --local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--model.flavor=debugmodel --training.seq_len=512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E22E"/>
                </a:solidFill>
              </a:defRPr>
            </a:pPr>
            <a:r>
              <a:t>Option 2: SLURM (production)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871855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TITAN_USER=joerg DATASET=slimpajama_627b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bash submit_job.sh --nodes=4 --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--model.flavor=1.7B --training.steps=100000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Experiment Launch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3992245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submit_job.sh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|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+-- [--local mode]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|     +-- Load cluster_config.py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|     +-- Resolve paths  (get_cli_args)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|     +-- Set env vars   (get_env_exports)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|     +-- apptainer exec ... torchrun -m torchtitan.train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|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+-- [SLURM mode]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+-- Create .venv_submit (no torch on login node)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+-- Detect cluster from hostname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+-- Find container  (titan_${CLUSTER}_0.2.1.sif)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+-- sbatch slurm/$CLUSTER.sh $TRAINING_ARGS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+-- Load modules (CUDA, NCCL, ...)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+-- Load cluster_config (inside container)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+-- Set NCCL env vars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+-- torchrun --nnodes=$N -m torchtitan.train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Key Components: Data Loaders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MMapDataset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Single large binary file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Memory-mapped random access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ChunkedMMapDataset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Pre-chunked data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Deterministic, validation split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DeterministicPackedDataset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Document packing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Fixed-length seqs, reproducible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926080"/>
            <a:ext cx="8229600" cy="123190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Raw Text --&gt; Tokenize --&gt; .bin/.idx files --&gt; MMap/Chunked Loader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                           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                             collate_function()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                           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                             (input_ids, labels)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5715E"/>
                </a:solidFill>
              </a:defRPr>
            </a:pPr>
            <a:r>
              <a:t>Configured via [data] section and cluster_paths.toml.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Why Chunks? The Problem with Single MMap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92672"/>
                </a:solidFill>
              </a:defRPr>
            </a:pPr>
            <a:r>
              <a:t>Scaling issues with one big .bin file: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D971F"/>
                </a:solidFill>
              </a:rPr>
              <a:t>Shuffling: </a:t>
            </a:r>
            <a:r>
              <a:rPr sz="1500">
                <a:solidFill>
                  <a:srgbClr val="F8F8F2"/>
                </a:solidFill>
              </a:rPr>
              <a:t>Sequential file + random access across 2TB = I/O thrashing on GPFS/Lustre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D971F"/>
                </a:solidFill>
              </a:rPr>
              <a:t>Multi-node I/O: </a:t>
            </a:r>
            <a:r>
              <a:rPr sz="1500">
                <a:solidFill>
                  <a:srgbClr val="F8F8F2"/>
                </a:solidFill>
              </a:rPr>
              <a:t>All ranks read from one file = contention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D971F"/>
                </a:solidFill>
              </a:rPr>
              <a:t>Validation split: </a:t>
            </a:r>
            <a:r>
              <a:rPr sz="1500">
                <a:solidFill>
                  <a:srgbClr val="F8F8F2"/>
                </a:solidFill>
              </a:rPr>
              <a:t>Hard to hold out data without a second copy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D971F"/>
                </a:solidFill>
              </a:rPr>
              <a:t>Reproducibility: </a:t>
            </a:r>
            <a:r>
              <a:rPr sz="1500">
                <a:solidFill>
                  <a:srgbClr val="F8F8F2"/>
                </a:solidFill>
              </a:rPr>
              <a:t>Different dp_world_size changes which data each rank sees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8F8F2"/>
                </a:solidFill>
              </a:defRPr>
            </a:pPr>
          </a:p>
          <a:p>
            <a:pPr>
              <a:spcBef>
                <a:spcPts val="800"/>
              </a:spcBef>
              <a:defRPr sz="1700" b="1">
                <a:solidFill>
                  <a:srgbClr val="A6E22E"/>
                </a:solidFill>
              </a:defRPr>
            </a:pPr>
            <a:r>
              <a:t>What chunks solve: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Pre-shuffled chunks (e.g. 256 x ~8GB) -- sequential reads are already random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Round-robin assignment -- each DP rank gets its own chunks, no contention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Built-in validation split -- reserve first N docs/chunk for validation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Deterministic across node counts -- same seed + same chunks = same order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preprocess_mmap_chunks: Creating Chunks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5715E"/>
                </a:solidFill>
                <a:latin typeface="Courier New"/>
              </a:defRPr>
            </a:pPr>
            <a:r>
              <a:t>titan_oellm/datasets/utils/preprocess_mmap_chunks.py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43205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Input:  train.bin (2TB) + train.idx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|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preprocess_mmap_chunks.py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(parallel workers + async flush)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|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Output: chunks_dir/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chunk_0000.bin + chunk_0000.idx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chunk_0001.bin + chunk_0001.idx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...           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chunk_0255.bin + chunk_0255.idx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6E22E"/>
                </a:solidFill>
              </a:defRPr>
            </a:pPr>
            <a:r>
              <a:t>Key features: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Multi-process: ProcessPoolExecutor for parallel reading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Async disk writes: separate writer processes so readers never block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Random assignment: each document randomly assigned to a target chunk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Per-chunk shuffle: each chunk shuffled independently after assignment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Validation + cleanup: automatic integrity check, temp files deleted after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ChunkedMMapDataset: 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308356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All chunks (sorted, deterministic)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[chunk_00, chunk_01, chunk_02, ..., chunk_N]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Seed-based permutation per epoch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Round-robin assignment to DP ranks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Rank 0            Rank 1            Rank 2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[chunk_02,        [chunk_07,        [chunk_00,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chunk_05,         chunk_01,         chunk_09,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chunk_11, ...]    chunk_04, ...]    chunk_06, ...]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|                  |          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Sequential read   Sequential read   Sequential read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(fast, no seeks)  (fast, no seeks)  (fast, no seeks)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8F2"/>
                </a:solidFill>
              </a:defRPr>
            </a:pPr>
            <a:r>
              <a:t>Chunks are pre-shuffled at creation time, so sequential = random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New epoch = re-shuffle chunk order (seed + epoch_counter)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Validation split: use_only_first_n_per_chunk / exclude_first_n_per_chunk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DeterministicPackedDataset: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rPr sz="1600" b="1">
                <a:solidFill>
                  <a:srgbClr val="F92672"/>
                </a:solidFill>
              </a:rPr>
              <a:t>The problem: </a:t>
            </a:r>
            <a:r>
              <a:rPr sz="1600">
                <a:solidFill>
                  <a:srgbClr val="F8F8F2"/>
                </a:solidFill>
              </a:rPr>
              <a:t>Documents have variable length. Padding wastes compute. Per-rank streaming is non-deterministic across node counts.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8F8F2"/>
                </a:solidFill>
              </a:defRPr>
            </a:pPr>
          </a:p>
          <a:p>
            <a:pPr>
              <a:defRPr sz="1600" b="1">
                <a:solidFill>
                  <a:srgbClr val="A6E22E"/>
                </a:solidFill>
              </a:defRPr>
            </a:pPr>
            <a:r>
              <a:t>Greedy packing approach: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8229600" cy="154051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Doc1 (500) | Doc2 (1200) | Doc3 (800) | Doc4 (300) | ...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      |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Treat as one continuous token stream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            |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[-- seq_len+1 --][-- seq_len+1 --][-- seq_len+1 --]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Sequence 0       Sequence 1       Sequence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8F2"/>
                </a:solidFill>
              </a:defRPr>
            </a:pPr>
            <a:r>
              <a:t>Documents concatenated (+ optional EOS) into a virtual token stream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Fixed-length sequences cut at regular positions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No stored index -- binary search on cumulative token counts (32KB metadata)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8F8F2"/>
                </a:solidFill>
              </a:defRPr>
            </a:pPr>
            <a:r>
              <a:t>Checkpoint = 1 integer (global_sequence_id) -- instant resume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DeterministicPackedDataset: Batch Diversity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t>Strided assignment: every batch samples across the whole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8229600" cy="198628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Epoch token stream (all chunks, permuted):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[=========================================================]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^          ^          ^          ^          ^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lane 0    lane 1    lane 2    lane 3    lane 4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(step 0)  (step 0)  (step 0)  (step 0)  (step 0)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Step 0 batch = {lane_0[0], lane_1[0], lane_2[0], ...}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Step 1 batch = {lane_0[1], lane_1[1], lane_2[1], ...}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8F2"/>
                </a:solidFill>
              </a:defRPr>
            </a:pPr>
            <a:r>
              <a:t>Each lane advances sequentially through its region (fast I/O)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Each batch spans the entire dataset (diversity)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Batch composition depends only on global_batch_size, NOT on dp_world_size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Checkpoint = 1 integer (global_sequence_id) -- instant resume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8F8F2"/>
                </a:solidFill>
              </a:defRPr>
            </a:pPr>
          </a:p>
          <a:p>
            <a:pPr>
              <a:defRPr sz="1600" b="1">
                <a:solidFill>
                  <a:srgbClr val="A6E22E"/>
                </a:solidFill>
              </a:defRPr>
            </a:pPr>
            <a:r>
              <a:t>Scales to: 1-10T tokens, 100-4000 GPUs, global_batch_size up to 16M.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Key Components: Validator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8F2"/>
                </a:solidFill>
              </a:defRPr>
            </a:pPr>
            <a:r>
              <a:t>Multi-metric validation during training: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D971F"/>
                </a:solidFill>
              </a:rPr>
              <a:t>Perplexity: </a:t>
            </a:r>
            <a:r>
              <a:rPr sz="1600">
                <a:solidFill>
                  <a:srgbClr val="F8F8F2"/>
                </a:solidFill>
              </a:rPr>
              <a:t>cross-entropy loss on validation set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D971F"/>
                </a:solidFill>
              </a:rPr>
              <a:t>WikiText-2 / WikiText-103: </a:t>
            </a:r>
            <a:r>
              <a:rPr sz="1600">
                <a:solidFill>
                  <a:srgbClr val="F8F8F2"/>
                </a:solidFill>
              </a:rPr>
              <a:t>standard LM benchmarks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D971F"/>
                </a:solidFill>
              </a:rPr>
              <a:t>LAMBADA: </a:t>
            </a:r>
            <a:r>
              <a:rPr sz="1600">
                <a:solidFill>
                  <a:srgbClr val="F8F8F2"/>
                </a:solidFill>
              </a:rPr>
              <a:t>last-word prediction accuracy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D971F"/>
                </a:solidFill>
              </a:rPr>
              <a:t>Spearman Correlation: </a:t>
            </a:r>
            <a:r>
              <a:rPr sz="1600">
                <a:solidFill>
                  <a:srgbClr val="F8F8F2"/>
                </a:solidFill>
              </a:rPr>
              <a:t>rank correlation metric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474720"/>
            <a:ext cx="8229600" cy="184912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[validation]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enable = true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freq = 1000          # Validate every N steps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eval_mode = "concatenated"  # or "document"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[benchmarks]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wikitext2_path = "..."    # Injected by cluster_config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lambada_path = "..."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E81FF"/>
                </a:solidFill>
              </a:defRPr>
            </a:pPr>
            <a:r>
              <a:t>Supports multiple validation datasets per training run.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Key Components: Universal LR 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8F8F2"/>
                </a:solidFill>
              </a:defRPr>
            </a:pPr>
            <a:r>
              <a:t>Three-phase learning rate schedule: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287782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LR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^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  Phase 1      Phase 2         Phase 3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 (Warm)        (Main)         (Cooldown)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    /```````````````````\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   /                     \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  /  linear/cosine/       \ cosine/linear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 /   constant decay        \ decay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 /                           \___________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| /                                 lr_min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+-+-------+------------------+-------+-----&gt;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0   warm_steps        total-cooldown 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8F2"/>
                </a:solidFill>
              </a:defRPr>
            </a:pPr>
            <a:r>
              <a:t>Supports: linear, cosine, sqrt, exp decay types per phase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Warm phase can go up (warmup) or down (warmdown for continued pretraining)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Full checkpoint/resume support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Key Components: Parameter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8F8F2"/>
                </a:solidFill>
              </a:defRPr>
            </a:pPr>
            <a:r>
              <a:t>Statistical insights into training dynamics: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8229600" cy="154051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[parameter_logging]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enabled = true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log_interval = 1000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log_parameters = true       # Weight stats (max, min, norm, std)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log_gradients = true        # Gradient statistics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log_optimizer_states = true  # Adam momentum/variance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8F2"/>
                </a:solidFill>
              </a:defRPr>
            </a:pPr>
            <a:r>
              <a:t>Pattern-based filtering (include/exclude specific layers)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All stats logged to TensorBoard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Helps diagnose: gradient explosion, dead layers, optimizer issues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Model Registration: TrainSpec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t>Every model registers a TrainSpec -- wires everything together: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76936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TrainSpec(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model_cls       = Qwen3Model,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model_args      = qwen3_custom_configs,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parallelize_fn  = parallelize_qwen3,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pipelining_fn   = ...,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build_optimizers_fn     = ...,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build_lr_schedulers_fn  = ...,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build_dataloader_fn     = build_sci_dataloader,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build_tokenizer_fn      = build_sci_hf_tokenizer,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build_loss_fn           = ...,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build_validator_fn      = build_validator,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build_metrics_processor_fn = ...,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state_dict_adapter      = Qwen3StateDictAdapter,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register_train_spec("qwen3_custom", spec)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Current Model: Qwen3-Custom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Flavor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heads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kv_heads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debugmodel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0.5B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896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0.6B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1.7B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1536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2560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3584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14B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5120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32B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5120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80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</a:defRPr>
            </a:pPr>
            <a:r>
              <a:rPr sz="1400">
                <a:solidFill>
                  <a:srgbClr val="F8F8F2"/>
                </a:solidFill>
              </a:rPr>
              <a:t>Plus: </a:t>
            </a:r>
            <a:r>
              <a:rPr sz="1400" b="1">
                <a:solidFill>
                  <a:srgbClr val="FD971F"/>
                </a:solidFill>
              </a:rPr>
              <a:t>125M, 125M768, 130Msci, 1.7Bsci </a:t>
            </a:r>
            <a:r>
              <a:rPr sz="1400">
                <a:solidFill>
                  <a:srgbClr val="F8F8F2"/>
                </a:solidFill>
              </a:rPr>
              <a:t>(custom research sizes) and </a:t>
            </a:r>
            <a:r>
              <a:rPr sz="1400" b="1">
                <a:solidFill>
                  <a:srgbClr val="FD971F"/>
                </a:solidFill>
              </a:rPr>
              <a:t>MoE variants </a:t>
            </a:r>
            <a:r>
              <a:rPr sz="1400">
                <a:solidFill>
                  <a:srgbClr val="F8F8F2"/>
                </a:solidFill>
              </a:rPr>
              <a:t>(debugmodel_moe, 600M-A60M)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75715E"/>
                </a:solidFill>
              </a:defRPr>
            </a:pPr>
            <a:r>
              <a:t>Features: QK-norm, configurable RoPE theta, HF weight loading, depth init, weight tying.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Adding a New Model --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1. Create the directory structure: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243205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titan_oellm/models/my_model/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__init__.py              # TrainSpec registration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model/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args.py                # Model hyperparameters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model.py               # nn.Module implementation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state_dict_adapter.py  # (optional) HF weight conversion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infra/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parallelize.py         # FSDP/TP/AC setup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train_configs/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my_model.toml          # Default training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2. Define model arguments: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80560"/>
            <a:ext cx="8229600" cy="154051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@dataclass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class MyModelArgs(BaseModelArgs):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dim: int = 1024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n_layers: int = 24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n_heads: int = 16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vocab_size: int = 50432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Adding a New Model -- Step by Step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3. Implement the model (nn.Module with forward pass)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8F8F2"/>
                </a:solidFill>
              </a:defRPr>
            </a:pPr>
          </a:p>
          <a:p>
            <a:pPr>
              <a:defRPr sz="1700" b="1">
                <a:solidFill>
                  <a:srgbClr val="A6E22E"/>
                </a:solidFill>
              </a:defRPr>
            </a:pPr>
            <a:r>
              <a:t>4. Implement parallelization: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8229600" cy="1763395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def parallelize_my_model(model, parallel_dims, job_config):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if parallel_dims.tp_enabled: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apply_tp(model, ...)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if parallel_dims.dp_shard_enabled: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apply_fsdp(model, ...)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if job_config.activation_checkpoint.mode != 'none':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    apply_ac(model,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5. Register the TrainSpec: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871855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configs = {"base": MyModelArgs(...), "large": MyModelArgs(...)}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spec = TrainSpec(model_cls=MyModel, model_args=configs, ...)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register_train_spec("my_model", spec)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6. Add import in titan_oellm/models/__init__.py: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06440"/>
            <a:ext cx="8229600" cy="36576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from . import my_model   # Auto-registers on import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Adding a New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1. Tokenize your data: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871855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python titan_oellm/scripts/convert_hf_to_mmap.py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--input your_data/ --output /scratch/data/my_dataset/ \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    --tokenizer /path/to/tokenizer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2. Register in user/$USER/cluster_paths.toml: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8229600" cy="1317625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["dataset.my_dataset.neox.juwels"]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train_prefix = "/scratch/data/my_dataset/train"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validation_prefix = "/scratch/data/my_dataset/val"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dataloader = "MMapDataset"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min_doc_len = 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3. 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8229600" cy="36576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F8F8F2"/>
                </a:solidFill>
                <a:latin typeface="Courier New"/>
              </a:defRPr>
            </a:pPr>
            <a:r>
              <a:t>DATASET=my_dataset bash submit_job.sh --local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Adding a New 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1. Register in cluster paths: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897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["tokenizer.my_tokenizer.juwels"]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path = "/scratch/tokenizers/my_tokenizer"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2. Create dataset entries matching the new tokenizer: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8229600" cy="109474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["dataset.my_data.my_tokenizer.juwels"]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train_prefix = "/scratch/data/my_data_mytok/train"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validation_prefix = "/scratch/data/my_data_mytok/val"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F8F8F2"/>
                </a:solidFill>
                <a:latin typeface="Courier New"/>
              </a:defRPr>
            </a:pPr>
            <a:r>
              <a:t>dataloader = "ChunkedMMapDataset"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3. 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F8F8F2"/>
                </a:solidFill>
                <a:latin typeface="Courier New"/>
              </a:defRPr>
            </a:pPr>
            <a:r>
              <a:t>DATASET=my_data TOKENIZER=my_tokenizer bash submit_job.sh --local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Multi-Cluster Support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Detection Pattern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Container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JUWELS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FZ Juelich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jwlogin*, jwc*, juwels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titan_juwels_0.2.1.sif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Jupiter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FZ Juelich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jupiter*, jrc*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titan_jupiter_0.2.1.sif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Capella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PSNC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 + digit, capella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titan_capella_0.2.1.sif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Leonardo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CINECA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leonardo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titan_leonardo_0.2.1.sif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Dev machine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fallback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local container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8F2"/>
                </a:solidFill>
              </a:defRPr>
            </a:pPr>
            <a:r>
              <a:t>Cluster is auto-detected from hostname. Override with CLUSTER=...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Same training config runs everywhere -- only paths differ.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Execution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8229600" cy="246634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Login Node                       Compute Node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+------------------+            +----------------------------+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|                  |            | Apptainer Container       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| submit_job.sh    |            | +------------------------+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| .venv_submit     |  sbatch    | | torchrun               |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| (no torch!)      | ---------&gt; | | torchtitan.train       |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| cluster_config   |            | | titan_oellm (models,   |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|                  |            | |   data, components)    |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+------------------+            | +------------------------+ 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                | GPU 0  GPU 1  GPU 2  GPU 3|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F8F8F2"/>
                </a:solidFill>
                <a:latin typeface="Courier New"/>
              </a:defRPr>
            </a:pPr>
            <a:r>
              <a:t>                                +----------------------------+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8F2"/>
                </a:solidFill>
              </a:defRPr>
            </a:pPr>
            <a:r>
              <a:t>Login node: lightweight venv (no PyTorch) for config resolution only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Compute node: full environment inside Apptainer container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All paths bind-mounted into container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Typical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F8F8F2"/>
                </a:solidFill>
              </a:defRPr>
            </a:pPr>
            <a:r>
              <a:rPr sz="1700" b="1">
                <a:solidFill>
                  <a:srgbClr val="FD971F"/>
                </a:solidFill>
              </a:rPr>
              <a:t>1. </a:t>
            </a:r>
            <a:r>
              <a:rPr sz="1700" b="1">
                <a:solidFill>
                  <a:srgbClr val="FFFFFF"/>
                </a:solidFill>
              </a:rPr>
              <a:t>Clone repo, set up user config</a:t>
            </a:r>
          </a:p>
          <a:p>
            <a:pPr>
              <a:spcBef>
                <a:spcPts val="200"/>
              </a:spcBef>
              <a:defRPr sz="1200">
                <a:solidFill>
                  <a:srgbClr val="75715E"/>
                </a:solidFill>
                <a:latin typeface="Courier New"/>
              </a:defRPr>
            </a:pPr>
            <a:r>
              <a:t>     user/$USER/cluster_paths.toml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FD971F"/>
                </a:solidFill>
              </a:rPr>
              <a:t>2. </a:t>
            </a:r>
            <a:r>
              <a:rPr sz="1700" b="1">
                <a:solidFill>
                  <a:srgbClr val="FFFFFF"/>
                </a:solidFill>
              </a:rPr>
              <a:t>Choose or create training config</a:t>
            </a:r>
          </a:p>
          <a:p>
            <a:pPr>
              <a:spcBef>
                <a:spcPts val="200"/>
              </a:spcBef>
              <a:defRPr sz="1200">
                <a:solidFill>
                  <a:srgbClr val="75715E"/>
                </a:solidFill>
                <a:latin typeface="Courier New"/>
              </a:defRPr>
            </a:pPr>
            <a:r>
              <a:t>     user/$USER/configs/my_experiment.toml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FD971F"/>
                </a:solidFill>
              </a:rPr>
              <a:t>3. </a:t>
            </a:r>
            <a:r>
              <a:rPr sz="1700" b="1">
                <a:solidFill>
                  <a:srgbClr val="FFFFFF"/>
                </a:solidFill>
              </a:rPr>
              <a:t>(Optional) Tokenize data &amp; download benchmarks</a:t>
            </a:r>
          </a:p>
          <a:p>
            <a:pPr>
              <a:spcBef>
                <a:spcPts val="200"/>
              </a:spcBef>
              <a:defRPr sz="1200">
                <a:solidFill>
                  <a:srgbClr val="75715E"/>
                </a:solidFill>
                <a:latin typeface="Courier New"/>
              </a:defRPr>
            </a:pPr>
            <a:r>
              <a:t>     convert_hf_to_mmap.py, download_benchmarks.py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FD971F"/>
                </a:solidFill>
              </a:rPr>
              <a:t>4. </a:t>
            </a:r>
            <a:r>
              <a:rPr sz="1700" b="1">
                <a:solidFill>
                  <a:srgbClr val="FFFFFF"/>
                </a:solidFill>
              </a:rPr>
              <a:t>Submit experiment</a:t>
            </a:r>
          </a:p>
          <a:p>
            <a:pPr>
              <a:spcBef>
                <a:spcPts val="200"/>
              </a:spcBef>
              <a:defRPr sz="1200">
                <a:solidFill>
                  <a:srgbClr val="75715E"/>
                </a:solidFill>
                <a:latin typeface="Courier New"/>
              </a:defRPr>
            </a:pPr>
            <a:r>
              <a:t>     TITAN_USER=$USER DATASET=X bash submit_job.sh --nodes=8 -- --model.flavor=4B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FD971F"/>
                </a:solidFill>
              </a:rPr>
              <a:t>5. </a:t>
            </a:r>
            <a:r>
              <a:rPr sz="1700" b="1">
                <a:solidFill>
                  <a:srgbClr val="FFFFFF"/>
                </a:solidFill>
              </a:rPr>
              <a:t>Monitor training</a:t>
            </a:r>
          </a:p>
          <a:p>
            <a:pPr>
              <a:spcBef>
                <a:spcPts val="200"/>
              </a:spcBef>
              <a:defRPr sz="1200">
                <a:solidFill>
                  <a:srgbClr val="75715E"/>
                </a:solidFill>
                <a:latin typeface="Courier New"/>
              </a:defRPr>
            </a:pPr>
            <a:r>
              <a:t>     tensorboard --logdir outputs/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E22E"/>
                </a:solidFill>
              </a:defRPr>
            </a:pPr>
            <a:r>
              <a:t>What Titan-OELLM gives you: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Seamless multi-cluster support -- same config, any HPC system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Pluggable architecture -- swap models, dataloaders, schedulers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Production-ready training -- validation, logging, checkpointing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Easy onboarding -- user directory, environment variables, TOML configs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Extensibility -- add a model in ~5 files, a dataset in ~3 lines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8F8F2"/>
                </a:solidFill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AE81FF"/>
                </a:solidFill>
              </a:defRPr>
            </a:pPr>
            <a:r>
              <a:t>What TorchTitan gives us (under the hood):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FSDP2, Tensor Parallel, Pipeline Parallel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Distributed checkpointing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Training loop, optimizer, compilation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8F8F2"/>
                </a:solidFill>
              </a:defRPr>
            </a:pPr>
            <a:r>
              <a:t>All the hard distributed systems work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66D9E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E81FF"/>
                </a:solidFill>
              </a:defRPr>
            </a:pPr>
            <a:r>
              <a:t>Key resources: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README.md -- Quick start &amp; overview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titan_oellm/configs/README.md -- Config system docs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titan_oellm/models/qwen3_custom/README.md -- Model docs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user/example/ -- Template configurations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66D9EF"/>
                </a:solidFill>
              </a:defRPr>
            </a:pPr>
            <a:r>
              <a:t>Appendix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Appendix A: Full Config Sections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TOML Section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[job]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Output folder, config module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[model]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Architecture name, flavor, vocab size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[training]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Steps, batch size, seq_len, precision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[optimizer]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AdamW params (lr, betas, weight_decay)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[lr_scheduler]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Scheduler type, phase config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[parallelism]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DP, TP, PP, CP degrees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[data]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Dataloader type, data paths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[validation]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Enable, frequency, metrics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[benchmarks]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WikiText, LAMBADA paths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[parameter_logging]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Stats logging config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[checkpoint]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Enable, interval, HF loading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[compile]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torch.compile settings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[activation_checkpoint]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AC mode (full/selective)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Appendix B: Environment Variables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6D9E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94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TITAN_USER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(required)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Your username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auto-detected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Target cluster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test_dataset (local)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TOKENIZER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neox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Tokenizer name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debug.toml (local)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Config file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NPROC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GPUs (local mode)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OUTPUT_DIR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from cluster config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8F2"/>
                          </a:solidFill>
                        </a:defRPr>
                      </a:pPr>
                      <a:r>
                        <a:t>Output base path</a:t>
                      </a:r>
                    </a:p>
                  </a:txBody>
                  <a:tcPr>
                    <a:solidFill>
                      <a:srgbClr val="3E3D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D9EF"/>
                </a:solidFill>
              </a:defRPr>
            </a:pPr>
            <a:r>
              <a:t>Appendix C: HuggingFace Weight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8F8F2"/>
                </a:solidFill>
              </a:defRPr>
            </a:pPr>
            <a:r>
              <a:t>Load pretrained HF checkpoints directly: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163320"/>
          </a:xfrm>
          <a:prstGeom prst="roundRect">
            <a:avLst>
              <a:gd name="adj" fmla="val 2000"/>
            </a:avLst>
          </a:prstGeom>
          <a:solidFill>
            <a:srgbClr val="1E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109728" bIns="109728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F8F8F2"/>
                </a:solidFill>
                <a:latin typeface="Courier New"/>
              </a:defRPr>
            </a:pPr>
            <a:r>
              <a:t>[checkpoint]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F8F8F2"/>
                </a:solidFill>
                <a:latin typeface="Courier New"/>
              </a:defRPr>
            </a:pPr>
            <a:r>
              <a:t>enable_checkpoint = true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F8F8F2"/>
                </a:solidFill>
                <a:latin typeface="Courier New"/>
              </a:defRPr>
            </a:pPr>
            <a:r>
              <a:t>load_hf_model_weights_only = true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F8F8F2"/>
                </a:solidFill>
                <a:latin typeface="Courier New"/>
              </a:defRPr>
            </a:pPr>
            <a:r>
              <a:t>hf_model_weights_path = "/path/to/hf/model"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22E"/>
                </a:solidFill>
              </a:defRPr>
            </a:pPr>
            <a:r>
              <a:t>The StateDictAdapter handles: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Weight name mapping (HF naming -&gt; TorchTitan naming)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Shape conversions (e.g., fused QKV -&gt; separate Q, K, V)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F8F8F2"/>
                </a:solidFill>
              </a:defRPr>
            </a:pPr>
            <a:r>
              <a:t>Skipping incompatible layers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8F8F2"/>
                </a:solidFill>
              </a:defRPr>
            </a:pPr>
          </a:p>
          <a:p>
            <a:pPr>
              <a:defRPr sz="1600" b="1">
                <a:solidFill>
                  <a:srgbClr val="AE81FF"/>
                </a:solidFill>
              </a:defRPr>
            </a:pPr>
            <a:r>
              <a:t>Supports both fine-tuning and continual pretraining.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